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4023AF-7BEC-43C2-AB21-BDA776C653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827D5A-F37B-48D7-8C2C-3B571C8A37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9979B2-F8B6-4454-A230-303FD9558D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F85B37-96FC-4D40-81B5-05368182DD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E8E62D-B309-4E1C-AD52-415E41142F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0489A6-3FCA-41BE-B5CA-64EBEF023C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7E0FF2-0426-46DA-BCE0-5E62F54F33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5DACDA8-4002-4F37-9489-38FF783B21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SIPS 2026  ·  DIGITAL TRUST &amp; </a:t>
            </a:r>
            <a:r>
              <a:rPr lang="en-US" sz="1200" b="1" u="none" spc="150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INFRASTRUCTURE  ·  PROBLEM </a:t>
            </a:r>
            <a:r>
              <a:rPr lang="en-US" sz="1200" b="1" u="none" spc="150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STATEMENT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658440"/>
            <a:ext cx="7314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omfortaa"/>
                <a:ea typeface="Cambria"/>
              </a:rPr>
              <a:t>DPI Sentinel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11340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“Downdetector tells you something's wrong. We give you the receipt.”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40080" y="1627560"/>
            <a:ext cx="10880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Comfortaa"/>
                <a:ea typeface="Cambria"/>
              </a:rPr>
              <a:t>India's most-used digital rails have no independent witness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2286000"/>
            <a:ext cx="10423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D7D2C4"/>
                </a:solidFill>
                <a:effectLst/>
                <a:uFillTx/>
                <a:latin typeface="Calibri"/>
                <a:ea typeface="Calibri"/>
              </a:rPr>
              <a:t>On 12 April 2025, UPI's transaction success rate fell to ~50% for nearly two hours, staying degraded for roughly five hours total — and no independent, real-time monitor exists to catch the next one.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40080" y="2971800"/>
            <a:ext cx="3428280" cy="95940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D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3044880"/>
            <a:ext cx="3428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6FCF9E"/>
                </a:solidFill>
                <a:effectLst/>
                <a:uFillTx/>
                <a:latin typeface="Cambria"/>
                <a:ea typeface="Cambria"/>
              </a:rPr>
              <a:t>22.35B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354780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UPI transactions in April 2026 alone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4343400" y="2971800"/>
            <a:ext cx="3428280" cy="95940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D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343400" y="3044880"/>
            <a:ext cx="3428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6FCF9E"/>
                </a:solidFill>
                <a:effectLst/>
                <a:uFillTx/>
                <a:latin typeface="Cambria"/>
                <a:ea typeface="Cambria"/>
              </a:rPr>
              <a:t>~5 hrs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26280" y="354780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UPI degraded on 12 April 2025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8046720" y="2971800"/>
            <a:ext cx="3428280" cy="959400"/>
          </a:xfrm>
          <a:prstGeom prst="roundRect">
            <a:avLst>
              <a:gd name="adj" fmla="val 5714"/>
            </a:avLst>
          </a:prstGeom>
          <a:solidFill>
            <a:srgbClr val="171A21"/>
          </a:solidFill>
          <a:ln w="12700">
            <a:solidFill>
              <a:srgbClr val="2A2D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046720" y="3044880"/>
            <a:ext cx="3428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6FCF9E"/>
                </a:solidFill>
                <a:effectLst/>
                <a:uFillTx/>
                <a:latin typeface="Cambria"/>
                <a:ea typeface="Cambria"/>
              </a:rPr>
              <a:t>~50%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8229600" y="3547800"/>
            <a:ext cx="3062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success rate at the incident's worst point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40080" y="4251960"/>
            <a:ext cx="456480" cy="456480"/>
          </a:xfrm>
          <a:prstGeom prst="ellipse">
            <a:avLst/>
          </a:prstGeom>
          <a:solidFill>
            <a:srgbClr val="C24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754560" y="4366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15"/>
          <p:cNvSpPr/>
          <p:nvPr/>
        </p:nvSpPr>
        <p:spPr>
          <a:xfrm>
            <a:off x="1234440" y="434340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mbria"/>
              </a:rPr>
              <a:t>No independent monitor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640080" y="478224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NPCI's own uptime reporting updates monthly, not live.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4407480" y="4251960"/>
            <a:ext cx="456480" cy="456480"/>
          </a:xfrm>
          <a:prstGeom prst="ellipse">
            <a:avLst/>
          </a:prstGeom>
          <a:solidFill>
            <a:srgbClr val="C24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4521600" y="4366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18"/>
          <p:cNvSpPr/>
          <p:nvPr/>
        </p:nvSpPr>
        <p:spPr>
          <a:xfrm>
            <a:off x="5001840" y="434340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mbria"/>
              </a:rPr>
              <a:t>No help in the moment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4407480" y="478224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Citizens can't tell if they were debited, or if it's safe to retry.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174880" y="4251960"/>
            <a:ext cx="456480" cy="456480"/>
          </a:xfrm>
          <a:prstGeom prst="ellipse">
            <a:avLst/>
          </a:prstGeom>
          <a:solidFill>
            <a:srgbClr val="C240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8289000" y="4366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21"/>
          <p:cNvSpPr/>
          <p:nvPr/>
        </p:nvSpPr>
        <p:spPr>
          <a:xfrm>
            <a:off x="8769240" y="434340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mbria"/>
              </a:rPr>
              <a:t>No evidence afterward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8174880" y="4782240"/>
            <a:ext cx="351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The burden of proof falls entirely on the citizen in any dispute.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3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1 / 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TARGET USERS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640080" y="658440"/>
            <a:ext cx="10880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B0E14"/>
                </a:solidFill>
                <a:effectLst/>
                <a:uFillTx/>
                <a:latin typeface="Comfortaa"/>
                <a:ea typeface="Cambria"/>
              </a:rPr>
              <a:t>Built for the people an outage actually hurts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640080" y="129852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Three groups feel a DPI incident in three different ways - each needs something different from an accountability layer.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640080" y="192024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932760" y="2212920"/>
            <a:ext cx="657720" cy="657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1090800" y="237096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5"/>
          <p:cNvSpPr/>
          <p:nvPr/>
        </p:nvSpPr>
        <p:spPr>
          <a:xfrm>
            <a:off x="932760" y="3017520"/>
            <a:ext cx="2934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Citizens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932760" y="3611880"/>
            <a:ext cx="29343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Everyday UPI &amp; DigiLocker users - especially elderly and high-frequency users most exposed to outage-window scam calls.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932760" y="4681800"/>
            <a:ext cx="2934360" cy="8280"/>
          </a:xfrm>
          <a:prstGeom prst="rect">
            <a:avLst/>
          </a:prstGeom>
          <a:solidFill>
            <a:srgbClr val="DCD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932760" y="4773240"/>
            <a:ext cx="2934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Needs: real-time status, in-the-moment guidance, and proof for disputes.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4407480" y="192024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4700160" y="2212920"/>
            <a:ext cx="657720" cy="657720"/>
          </a:xfrm>
          <a:prstGeom prst="ellipse">
            <a:avLst/>
          </a:prstGeom>
          <a:solidFill>
            <a:srgbClr val="2D6C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1" descr="preencoded.png"/>
          <p:cNvPicPr/>
          <p:nvPr/>
        </p:nvPicPr>
        <p:blipFill>
          <a:blip r:embed="rId2"/>
          <a:stretch/>
        </p:blipFill>
        <p:spPr>
          <a:xfrm>
            <a:off x="4858200" y="237096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1"/>
          <p:cNvSpPr/>
          <p:nvPr/>
        </p:nvSpPr>
        <p:spPr>
          <a:xfrm>
            <a:off x="4700160" y="3017520"/>
            <a:ext cx="2934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Banks, PSPs &amp; Fintechs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4700160" y="3611880"/>
            <a:ext cx="29343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Institutions that absorb support-ticket floods and dispute costs every time a DPI rail degrades.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3"/>
          <p:cNvSpPr/>
          <p:nvPr/>
        </p:nvSpPr>
        <p:spPr>
          <a:xfrm>
            <a:off x="4700160" y="4681800"/>
            <a:ext cx="2934360" cy="8280"/>
          </a:xfrm>
          <a:prstGeom prst="rect">
            <a:avLst/>
          </a:prstGeom>
          <a:solidFill>
            <a:srgbClr val="DCD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4700160" y="4773240"/>
            <a:ext cx="2934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2D6CA3"/>
                </a:solidFill>
                <a:effectLst/>
                <a:uFillTx/>
                <a:latin typeface="Calibri"/>
                <a:ea typeface="Calibri"/>
              </a:rPr>
              <a:t>Needs: an earlier, independently-verified incident signal than their own dashboards give them.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8174880" y="192024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8467200" y="2212920"/>
            <a:ext cx="657720" cy="657720"/>
          </a:xfrm>
          <a:prstGeom prst="ellipse">
            <a:avLst/>
          </a:prstGeom>
          <a:solidFill>
            <a:srgbClr val="A874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2" descr="preencoded.png"/>
          <p:cNvPicPr/>
          <p:nvPr/>
        </p:nvPicPr>
        <p:blipFill>
          <a:blip r:embed="rId3"/>
          <a:stretch/>
        </p:blipFill>
        <p:spPr>
          <a:xfrm>
            <a:off x="8625240" y="237096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17"/>
          <p:cNvSpPr/>
          <p:nvPr/>
        </p:nvSpPr>
        <p:spPr>
          <a:xfrm>
            <a:off x="8467200" y="3017520"/>
            <a:ext cx="2934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Regulators, Journalists &amp; Civic-Tech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8467200" y="3611880"/>
            <a:ext cx="293436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Researchers and policymakers with no independent, standing data source to hold DPI operators accountable.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9"/>
          <p:cNvSpPr/>
          <p:nvPr/>
        </p:nvSpPr>
        <p:spPr>
          <a:xfrm>
            <a:off x="8467200" y="4681800"/>
            <a:ext cx="2934360" cy="8280"/>
          </a:xfrm>
          <a:prstGeom prst="rect">
            <a:avLst/>
          </a:prstGeom>
          <a:solidFill>
            <a:srgbClr val="DCD8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8467200" y="4773240"/>
            <a:ext cx="2934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A6415"/>
                </a:solidFill>
                <a:effectLst/>
                <a:uFillTx/>
                <a:latin typeface="Calibri"/>
                <a:ea typeface="Calibri"/>
              </a:rPr>
              <a:t>Needs: transparent, auditable incident history - not self-reported uptime.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ourier New"/>
                <a:ea typeface="Courier New"/>
              </a:rPr>
              <a:t>2 /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PROPOSED SOLUTION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40080" y="65844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B0E14"/>
                </a:solidFill>
                <a:effectLst/>
                <a:uFillTx/>
                <a:latin typeface="Comfortaa"/>
                <a:ea typeface="Cambria"/>
              </a:rPr>
              <a:t>Observe. Guide. Prove.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640080" y="128016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Public accountability tools for DPI today are either operated by the entity being monitored, or crowd-sourced and unverifiable. Nobody has built the third option.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640080" y="1965960"/>
            <a:ext cx="3519720" cy="2605320"/>
          </a:xfrm>
          <a:prstGeom prst="roundRect">
            <a:avLst>
              <a:gd name="adj" fmla="val 2807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932760" y="2258640"/>
            <a:ext cx="657720" cy="657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1090800" y="241668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5"/>
          <p:cNvSpPr/>
          <p:nvPr/>
        </p:nvSpPr>
        <p:spPr>
          <a:xfrm>
            <a:off x="932760" y="3063240"/>
            <a:ext cx="2934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Observe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932760" y="3502080"/>
            <a:ext cx="2934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An independent witness network of probe nodes continuously monitors UPI and DigiLocker's public-facing surfaces - real availability and latency, on a fixed interval.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4407480" y="1965960"/>
            <a:ext cx="3519720" cy="2605320"/>
          </a:xfrm>
          <a:prstGeom prst="roundRect">
            <a:avLst>
              <a:gd name="adj" fmla="val 2807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4700160" y="2258640"/>
            <a:ext cx="657720" cy="657720"/>
          </a:xfrm>
          <a:prstGeom prst="ellipse">
            <a:avLst/>
          </a:prstGeom>
          <a:solidFill>
            <a:srgbClr val="2D6C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4858200" y="241668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9"/>
          <p:cNvSpPr/>
          <p:nvPr/>
        </p:nvSpPr>
        <p:spPr>
          <a:xfrm>
            <a:off x="4700160" y="3063240"/>
            <a:ext cx="2934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Guide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4700160" y="3502080"/>
            <a:ext cx="2934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When an incident is active, Outage Copilot gives in-the-moment guidance: don't retry yet, check if you were debited, and watch for outage-season scam calls.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8174880" y="1965960"/>
            <a:ext cx="3519720" cy="2605320"/>
          </a:xfrm>
          <a:prstGeom prst="roundRect">
            <a:avLst>
              <a:gd name="adj" fmla="val 2807"/>
            </a:avLst>
          </a:prstGeom>
          <a:solidFill>
            <a:srgbClr val="FBFAF6"/>
          </a:solidFill>
          <a:ln w="12700">
            <a:solidFill>
              <a:srgbClr val="DCD8CC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8467200" y="2258640"/>
            <a:ext cx="657720" cy="657720"/>
          </a:xfrm>
          <a:prstGeom prst="ellipse">
            <a:avLst/>
          </a:prstGeom>
          <a:solidFill>
            <a:srgbClr val="A874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2" descr="preencoded.png"/>
          <p:cNvPicPr/>
          <p:nvPr/>
        </p:nvPicPr>
        <p:blipFill>
          <a:blip r:embed="rId3"/>
          <a:stretch/>
        </p:blipFill>
        <p:spPr>
          <a:xfrm>
            <a:off x="8625240" y="2416680"/>
            <a:ext cx="341640" cy="34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3"/>
          <p:cNvSpPr/>
          <p:nvPr/>
        </p:nvSpPr>
        <p:spPr>
          <a:xfrm>
            <a:off x="8467200" y="3063240"/>
            <a:ext cx="29343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0E14"/>
                </a:solidFill>
                <a:effectLst/>
                <a:uFillTx/>
                <a:latin typeface="Cambria"/>
                <a:ea typeface="Cambria"/>
              </a:rPr>
              <a:t>Prove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8467200" y="3502080"/>
            <a:ext cx="29343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A citizen can request a cryptographically signed Incident Correlation Certificate - verifiable evidence for a bank dispute or RBI ombudsman complaint.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640080" y="4800600"/>
            <a:ext cx="10908000" cy="776520"/>
          </a:xfrm>
          <a:prstGeom prst="roundRect">
            <a:avLst>
              <a:gd name="adj" fmla="val 8235"/>
            </a:avLst>
          </a:prstGeom>
          <a:solidFill>
            <a:srgbClr val="E4EFE9"/>
          </a:solidFill>
          <a:ln w="15875">
            <a:solidFill>
              <a:srgbClr val="1A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868680" y="4901040"/>
            <a:ext cx="10423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0E14"/>
                </a:solidFill>
                <a:effectLst/>
                <a:uFillTx/>
                <a:latin typeface="Calibri"/>
                <a:ea typeface="Calibri"/>
              </a:rPr>
              <a:t>The gap between “informational” and “evidentiary” is the whole product. </a:t>
            </a:r>
            <a:r>
              <a:rPr lang="en-US" sz="1250" b="0" u="none" strike="noStrike">
                <a:solidFill>
                  <a:srgbClr val="0B0E14"/>
                </a:solidFill>
                <a:effectLst/>
                <a:uFillTx/>
                <a:latin typeface="Calibri"/>
                <a:ea typeface="Calibri"/>
              </a:rPr>
              <a:t>DPI Sentinel is the first independently operated, cryptographically auditable layer for India's DPI.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ourier New"/>
                <a:ea typeface="Courier New"/>
              </a:rPr>
              <a:t>3 /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PROTOTYPE OVERVIEW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640080" y="65844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0B0E14"/>
                </a:solidFill>
                <a:effectLst/>
                <a:uFillTx/>
                <a:latin typeface="Comfortaa"/>
                <a:ea typeface="Cambria"/>
              </a:rPr>
              <a:t>Already working - not a mockup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585360" y="1362600"/>
            <a:ext cx="6647040" cy="3888720"/>
          </a:xfrm>
          <a:prstGeom prst="roundRect">
            <a:avLst>
              <a:gd name="adj" fmla="val 940"/>
            </a:avLst>
          </a:prstGeom>
          <a:solidFill>
            <a:srgbClr val="FFFFFF"/>
          </a:solidFill>
          <a:ln w="12700">
            <a:solidFill>
              <a:srgbClr val="DCD8CC"/>
            </a:solidFill>
            <a:round/>
          </a:ln>
          <a:effectLst>
            <a:outerShdw algn="bl" blurRad="127080" dir="5400000" dist="38160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0" descr="/home/claude/docbuild/shot_operational_crop.png"/>
          <p:cNvPicPr/>
          <p:nvPr/>
        </p:nvPicPr>
        <p:blipFill>
          <a:blip r:embed="rId1"/>
          <a:stretch/>
        </p:blipFill>
        <p:spPr>
          <a:xfrm>
            <a:off x="640080" y="1417320"/>
            <a:ext cx="6537240" cy="377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3"/>
          <p:cNvSpPr/>
          <p:nvPr/>
        </p:nvSpPr>
        <p:spPr>
          <a:xfrm>
            <a:off x="640080" y="5306760"/>
            <a:ext cx="6537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Live status ledger - real synthetic probes, real incident detection, live demo controls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7406640" y="14173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0E14"/>
                </a:solidFill>
                <a:effectLst/>
                <a:uFillTx/>
                <a:latin typeface="Cantarell"/>
                <a:ea typeface="Cambria"/>
              </a:rPr>
              <a:t>What's built: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7406640" y="1929240"/>
            <a:ext cx="81720" cy="81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7607880" y="1801440"/>
            <a:ext cx="3912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Real HTTP/TLS synthetic probing, on a fixed interval, against real public targets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7"/>
          <p:cNvSpPr/>
          <p:nvPr/>
        </p:nvSpPr>
        <p:spPr>
          <a:xfrm>
            <a:off x="7406640" y="2551320"/>
            <a:ext cx="81720" cy="81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7607880" y="2423160"/>
            <a:ext cx="3912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Automatic incident detection with full timeline (Detected → Identified → Monitoring → Resolved)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7406640" y="3173040"/>
            <a:ext cx="81720" cy="81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607880" y="3044880"/>
            <a:ext cx="3912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The real 12 April 2025 UPI incident, sourced from public reporting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1"/>
          <p:cNvSpPr/>
          <p:nvPr/>
        </p:nvSpPr>
        <p:spPr>
          <a:xfrm>
            <a:off x="7406640" y="3794760"/>
            <a:ext cx="81720" cy="8172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13320" rIns="41040" bIns="13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7607880" y="3666600"/>
            <a:ext cx="3912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Live “inject outage” demo control - probe → detect → incident → resolve, in real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7406640" y="4434840"/>
            <a:ext cx="4114080" cy="776520"/>
          </a:xfrm>
          <a:prstGeom prst="roundRect">
            <a:avLst>
              <a:gd name="adj" fmla="val 7059"/>
            </a:avLst>
          </a:prstGeom>
          <a:solidFill>
            <a:srgbClr val="E3ECF3"/>
          </a:solidFill>
          <a:ln w="12700">
            <a:solidFill>
              <a:srgbClr val="2D6C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7571160" y="4526280"/>
            <a:ext cx="37850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0E14"/>
                </a:solidFill>
                <a:effectLst/>
                <a:uFillTx/>
                <a:latin typeface="Calibri"/>
                <a:ea typeface="Calibri"/>
              </a:rPr>
              <a:t>Next: </a:t>
            </a:r>
            <a:r>
              <a:rPr lang="en-US" sz="10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multi-witness quorum network, hash-chained transparency log, and Evidence Certificate generation - detailed next.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6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ourier New"/>
                <a:ea typeface="Courier New"/>
              </a:rPr>
              <a:t>4 /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TECHNICAL 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640080" y="65844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0E14"/>
                </a:solidFill>
                <a:effectLst/>
                <a:uFillTx/>
                <a:latin typeface="Comfortaa"/>
                <a:ea typeface="Cambria"/>
              </a:rPr>
              <a:t>Built so no single party - including us - can fake it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/home/claude/docbuild/architecture_diagram_crop.png"/>
          <p:cNvPicPr/>
          <p:nvPr/>
        </p:nvPicPr>
        <p:blipFill>
          <a:blip r:embed="rId1"/>
          <a:stretch/>
        </p:blipFill>
        <p:spPr>
          <a:xfrm>
            <a:off x="502920" y="1371600"/>
            <a:ext cx="5805720" cy="48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2"/>
          <p:cNvSpPr/>
          <p:nvPr/>
        </p:nvSpPr>
        <p:spPr>
          <a:xfrm>
            <a:off x="7635240" y="141732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0E14"/>
                </a:solidFill>
                <a:effectLst/>
                <a:uFillTx/>
                <a:latin typeface="Cantarell"/>
                <a:ea typeface="Cambria"/>
              </a:rPr>
              <a:t>Quorum consensus, not one server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7635240" y="1920240"/>
            <a:ext cx="39312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No single node — including one the project operator controls — can unilaterally declare an incident. An incident requires a quorum of independent witnesses to agree.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7635240" y="278892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0E14"/>
                </a:solidFill>
                <a:effectLst/>
                <a:uFillTx/>
                <a:latin typeface="Cantarell"/>
                <a:ea typeface="Cambria"/>
              </a:rPr>
              <a:t>A tamper-evident log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635240" y="3200400"/>
            <a:ext cx="393120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Every observation is appended to a hash-chained, Merkle-structured log with signed checkpoints published externally - the same pattern that secures Certificate Transparency for the web's entire TLS ecosystem.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7635240" y="4251960"/>
            <a:ext cx="3931200" cy="1050840"/>
          </a:xfrm>
          <a:prstGeom prst="roundRect">
            <a:avLst>
              <a:gd name="adj" fmla="val 5217"/>
            </a:avLst>
          </a:prstGeom>
          <a:solidFill>
            <a:srgbClr val="F6E4DF"/>
          </a:solidFill>
          <a:ln w="13970">
            <a:solidFill>
              <a:srgbClr val="C240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7799760" y="4361760"/>
            <a:ext cx="36021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To fake an incident, </a:t>
            </a:r>
            <a:r>
              <a:rPr lang="en-US" sz="1050" b="1" u="none" strike="noStrike">
                <a:solidFill>
                  <a:srgbClr val="0B0E14"/>
                </a:solidFill>
                <a:effectLst/>
                <a:uFillTx/>
                <a:latin typeface="Calibri"/>
                <a:ea typeface="Calibri"/>
              </a:rPr>
              <a:t>an attacker would need to compromise a quorum of independently operated, geographically distinct nodes simultaneously - not one server.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ourier New"/>
                <a:ea typeface="Courier New"/>
              </a:rPr>
              <a:t>5 /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EXPECTED IMPACT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40080" y="658440"/>
            <a:ext cx="10880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0E14"/>
                </a:solidFill>
                <a:effectLst/>
                <a:uFillTx/>
                <a:latin typeface="Comfortaa"/>
                <a:ea typeface="Cambria"/>
              </a:rPr>
              <a:t>Free for citizens. Paid by the institutions that benefit most.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640080" y="135324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Every monitored rail carries billions of transactions a month - independent accountability at this scale has never existed before.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640080" y="1920240"/>
            <a:ext cx="5257080" cy="3062520"/>
          </a:xfrm>
          <a:prstGeom prst="roundRect">
            <a:avLst>
              <a:gd name="adj" fmla="val 2388"/>
            </a:avLst>
          </a:prstGeom>
          <a:solidFill>
            <a:srgbClr val="E4EFE9"/>
          </a:solidFill>
          <a:ln w="15875">
            <a:solidFill>
              <a:srgbClr val="1A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914400" y="2194560"/>
            <a:ext cx="566280" cy="566280"/>
          </a:xfrm>
          <a:prstGeom prst="ellipse">
            <a:avLst/>
          </a:prstGeom>
          <a:solidFill>
            <a:srgbClr val="1A7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/>
          <a:stretch/>
        </p:blipFill>
        <p:spPr>
          <a:xfrm>
            <a:off x="1050480" y="233064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5"/>
          <p:cNvSpPr/>
          <p:nvPr/>
        </p:nvSpPr>
        <p:spPr>
          <a:xfrm>
            <a:off x="1627560" y="226764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0E14"/>
                </a:solidFill>
                <a:effectLst/>
                <a:uFillTx/>
                <a:latin typeface="Cantarell"/>
                <a:ea typeface="Cambria"/>
              </a:rPr>
              <a:t>Citizens - free, forever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914400" y="2926080"/>
            <a:ext cx="470844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Who: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every citizen using UPI or DigiLocker.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What: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public status ledger, Outage Copilot guidance, and a free tier of Evidence Certificates.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Why free: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the whole trust thesis depends on independence. A paywalled accountability layer isn't one.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263640" y="1920240"/>
            <a:ext cx="5257080" cy="3062520"/>
          </a:xfrm>
          <a:prstGeom prst="roundRect">
            <a:avLst>
              <a:gd name="adj" fmla="val 2388"/>
            </a:avLst>
          </a:prstGeom>
          <a:solidFill>
            <a:srgbClr val="E3ECF3"/>
          </a:solidFill>
          <a:ln w="15875">
            <a:solidFill>
              <a:srgbClr val="2D6C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6537960" y="2194560"/>
            <a:ext cx="566280" cy="566280"/>
          </a:xfrm>
          <a:prstGeom prst="ellipse">
            <a:avLst/>
          </a:prstGeom>
          <a:solidFill>
            <a:srgbClr val="2D6CA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1" descr="preencoded.png"/>
          <p:cNvPicPr/>
          <p:nvPr/>
        </p:nvPicPr>
        <p:blipFill>
          <a:blip r:embed="rId2"/>
          <a:stretch/>
        </p:blipFill>
        <p:spPr>
          <a:xfrm>
            <a:off x="6674040" y="233064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9"/>
          <p:cNvSpPr/>
          <p:nvPr/>
        </p:nvSpPr>
        <p:spPr>
          <a:xfrm>
            <a:off x="7251120" y="2267640"/>
            <a:ext cx="4022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B0E14"/>
                </a:solidFill>
                <a:effectLst/>
                <a:uFillTx/>
                <a:latin typeface="Cantarell"/>
                <a:ea typeface="Cambria"/>
              </a:rPr>
              <a:t>Banks, PSPs &amp; fintechs - paid API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537960" y="2926080"/>
            <a:ext cx="470844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Who pays: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banks, PSPs, and fintech apps that absorb support and dispute costs during DPI outages.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How: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usage-based API for earlier, independently-verified incident signals + dispute evidence.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Why now: </a:t>
            </a:r>
            <a:r>
              <a:rPr lang="en-US" sz="1150" b="0" u="none" strike="noStrike">
                <a:solidFill>
                  <a:srgbClr val="2A2D33"/>
                </a:solidFill>
                <a:effectLst/>
                <a:uFillTx/>
                <a:latin typeface="Calibri"/>
                <a:ea typeface="Calibri"/>
              </a:rPr>
              <a:t>₹22,495 crore lost to digital fraud in 2025, and rising RBI scrutiny on redress timelines.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640080" y="5148000"/>
            <a:ext cx="10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Mirrors how Setu, Decentro, and Cashfree monetize: usage-based B2B APIs sitting on top of public infrastructure.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8473"/>
                </a:solidFill>
                <a:effectLst/>
                <a:uFillTx/>
                <a:latin typeface="Courier New"/>
                <a:ea typeface="Courier New"/>
              </a:rPr>
              <a:t>6 /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640080" y="347400"/>
            <a:ext cx="9143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TEAM DETAILS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640080" y="685800"/>
            <a:ext cx="108806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omfortaa"/>
                <a:ea typeface="Cambria"/>
              </a:rPr>
              <a:t>Kernel Panic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640080" y="135324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Theme: Digital Trust &amp; Infrastructure  ·  SIPS 2026, CSITM - IIM Bangalore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640080" y="19659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51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Name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3566160" y="196596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51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Role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6400800" y="1965960"/>
            <a:ext cx="2833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51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College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9235440" y="1965960"/>
            <a:ext cx="231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51" strike="noStrike">
                <a:solidFill>
                  <a:srgbClr val="6FCF9E"/>
                </a:solidFill>
                <a:effectLst/>
                <a:uFillTx/>
                <a:latin typeface="Calibri"/>
                <a:ea typeface="Calibri"/>
              </a:rPr>
              <a:t>Contact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7"/>
          <p:cNvSpPr/>
          <p:nvPr/>
        </p:nvSpPr>
        <p:spPr>
          <a:xfrm>
            <a:off x="640080" y="2313360"/>
            <a:ext cx="10908000" cy="10080"/>
          </a:xfrm>
          <a:prstGeom prst="rect">
            <a:avLst/>
          </a:prstGeom>
          <a:solidFill>
            <a:srgbClr val="2A2D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640080" y="2468880"/>
            <a:ext cx="2925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D2C4"/>
                </a:solidFill>
                <a:effectLst/>
                <a:uFillTx/>
                <a:latin typeface="Calibri"/>
                <a:ea typeface="Calibri"/>
              </a:rPr>
              <a:t>Shreyansh Kanojia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3566160" y="2468880"/>
            <a:ext cx="283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D2C4"/>
                </a:solidFill>
                <a:effectLst/>
                <a:uFillTx/>
                <a:latin typeface="Calibri"/>
                <a:ea typeface="Calibri"/>
              </a:rPr>
              <a:t>[Role, e.g. Full-stack / Systems]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6400800" y="2468880"/>
            <a:ext cx="28339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D2C4"/>
                </a:solidFill>
                <a:effectLst/>
                <a:uFillTx/>
                <a:latin typeface="Calibri"/>
                <a:ea typeface="Calibri"/>
              </a:rPr>
              <a:t>[College, Branch, Year]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9235440" y="2468880"/>
            <a:ext cx="2312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7D2C4"/>
                </a:solidFill>
                <a:effectLst/>
                <a:uFillTx/>
                <a:latin typeface="Calibri"/>
                <a:ea typeface="Calibri"/>
              </a:rPr>
              <a:t>[email / phone]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640080" y="2999160"/>
            <a:ext cx="10908000" cy="6480"/>
          </a:xfrm>
          <a:prstGeom prst="rect">
            <a:avLst/>
          </a:prstGeom>
          <a:solidFill>
            <a:srgbClr val="1F22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640080" y="4316040"/>
            <a:ext cx="10908000" cy="6480"/>
          </a:xfrm>
          <a:prstGeom prst="rect">
            <a:avLst/>
          </a:prstGeom>
          <a:solidFill>
            <a:srgbClr val="1F22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640080" y="4434840"/>
            <a:ext cx="10908000" cy="1050840"/>
          </a:xfrm>
          <a:prstGeom prst="roundRect">
            <a:avLst>
              <a:gd name="adj" fmla="val 6087"/>
            </a:avLst>
          </a:prstGeom>
          <a:solidFill>
            <a:srgbClr val="12231C"/>
          </a:solidFill>
          <a:ln w="15875">
            <a:solidFill>
              <a:srgbClr val="1A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914400" y="4572000"/>
            <a:ext cx="10332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1" i="1" u="none" strike="noStrike">
                <a:solidFill>
                  <a:srgbClr val="FFFFFF"/>
                </a:solidFill>
                <a:effectLst/>
                <a:uFillTx/>
                <a:latin typeface="Cantarell"/>
                <a:ea typeface="Cambria"/>
              </a:rPr>
              <a:t>DPI Sentinel is an independently operated, cryptographically verifiable accountability layer for India's digital public infrastructure - the first system that doesn't just tell citizens something broke, but gives them proof.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5"/>
          <p:cNvSpPr/>
          <p:nvPr/>
        </p:nvSpPr>
        <p:spPr>
          <a:xfrm>
            <a:off x="640080" y="5806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https://github.com/Shreyansh-Kanojiaa/dpi-sentinel  ·  shreyanshkanojia104@gmail.com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457200" y="647388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DPI Sentinel  ·  SIPS 2026  ·  Digital Trust &amp; Infrastructure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11185920" y="647388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ourier New"/>
                <a:ea typeface="Courier New"/>
              </a:rPr>
              <a:t>7 / 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2026-07-01T05:55:43Z</dcterms:created>
  <dc:creator>DPI Sentinel</dc:creator>
  <dc:description/>
  <dc:language>en-US</dc:language>
  <cp:lastModifiedBy/>
  <dcterms:modified xsi:type="dcterms:W3CDTF">2026-07-05T20:57:39Z</dcterms:modified>
  <cp:revision>3</cp:revision>
  <dc:subject>PptxGenJS Presentation</dc:subject>
  <dc:title>DPI Sentinel — SIPS 2026 Round 1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